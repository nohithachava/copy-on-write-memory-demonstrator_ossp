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f5517e0-abd5-717c-991e-a6e1713d967a}">
          <p14:sldIdLst>
            <p14:sldId id="256"/>
            <p14:sldId id="257"/>
          </p14:sldIdLst>
        </p14:section>
        <p14:section name="Concept" id="{b1e697c6-a8cd-9bfd-68f6-25a9d9718a84}">
          <p14:sldIdLst>
            <p14:sldId id="258"/>
            <p14:sldId id="259"/>
            <p14:sldId id="260"/>
            <p14:sldId id="261"/>
            <p14:sldId id="262"/>
          </p14:sldIdLst>
        </p14:section>
        <p14:section name="Demonstration" id="{33ba37fd-be80-6da6-0510-68f4fe3aea58}">
          <p14:sldIdLst>
            <p14:sldId id="263"/>
            <p14:sldId id="264"/>
            <p14:sldId id="265"/>
            <p14:sldId id="266"/>
          </p14:sldIdLst>
        </p14:section>
        <p14:section name="Results" id="{93a2f25e-7d04-5112-4598-e7b131e32db0}">
          <p14:sldIdLst>
            <p14:sldId id="267"/>
            <p14:sldId id="268"/>
          </p14:sldIdLst>
        </p14:section>
        <p14:section name="Wrap-up" id="{9edef778-0b95-4c80-96a2-627bcecf368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Physical frames for a 4-page buffer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Frames in use</c:v>
                </c:pt>
              </c:strCache>
            </c:strRef>
          </c:tx>
          <c:spPr>
            <a:solidFill>
              <a:srgbClr val="8DA3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A3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Before fork</c:v>
                  </c:pt>
                  <c:pt idx="1">
                    <c:v>Fork, copy-all</c:v>
                  </c:pt>
                  <c:pt idx="2">
                    <c:v>Fork, CoW</c:v>
                  </c:pt>
                  <c:pt idx="3">
                    <c:v>CoW + 1 write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CEF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Copy-on-Write memory demonstrator. Mention the team members, registration numbers and the faculty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fork() creates a child process. Copying all of the parent's memory is slow and wasteful because most children never modify it. Copy-on-write fixes this by copying lazily.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creates a child from a parent. Copy-on-write means the pages are shared until someone modifies one. Modification triggers the copy of just that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show sharing, catch the first write, show that only one page is copied, and measure the memory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Stress that step 1 copies nothing; the copy only happens in step 4, and only for the page that was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processes have the same virtual page numbers, and each pair of pages points to the same physical frame. The fifth frame is still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child wrote to page 2. The kernel allocated Frame 4, copied page 2 into it, and remapped the child's page 2 there. The parent keeps the original frame. The same would happen if the parent had written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mechanism behind the demo. Reference counting decides whether a real copy is needed. If only one process still uses the frame, it is just re-marked writable.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parts: the parent allocates and fills memory, fork creates the child, and the child writes to one page. An observer reads smaps and page-fault counters to show what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excerpt. mmap gives page-aligned private memory, fork creates the child, and the single write to buf[2*PAGE] is what triggers the copy of page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five steps live. Pause after step 4 and show the smaps output or the page-fault count to prove that exactly one page was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values the model predicts for a 4-page buffer with one written page. Replace or confirm them with the numbers your demo prints from smaps and getrusage.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CoW is a lazy-copy strategy. It wins when children write little or nothing, and loses some of its edge when most pages end up modified.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sharing at fork, copying only on write, and the demo that proves it.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Copy-on-Write Memory Demonstrator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OPERATING SYSTEMS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Copy-on-Write Memory Demonstrator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Showing how memory is shared after fork() and copied only when a process modifies it.</a:t>
            </a:r>
            <a:endParaRPr lang="en-US" sz="1600" dirty="0"/>
          </a:p>
        </p:txBody>
      </p:sp>
      <p:sp>
        <p:nvSpPr>
          <p:cNvPr id="5" name="Shared page"/>
          <p:cNvSpPr/>
          <p:nvPr/>
        </p:nvSpPr>
        <p:spPr>
          <a:xfrm>
            <a:off x="5943600" y="86868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6" name="Shared page"/>
          <p:cNvSpPr/>
          <p:nvPr/>
        </p:nvSpPr>
        <p:spPr>
          <a:xfrm>
            <a:off x="6638544" y="86868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7" name="Shared page"/>
          <p:cNvSpPr/>
          <p:nvPr/>
        </p:nvSpPr>
        <p:spPr>
          <a:xfrm>
            <a:off x="7333488" y="86868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8" name="Shared page"/>
          <p:cNvSpPr/>
          <p:nvPr/>
        </p:nvSpPr>
        <p:spPr>
          <a:xfrm>
            <a:off x="8028432" y="86868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9" name="Shared page"/>
          <p:cNvSpPr/>
          <p:nvPr/>
        </p:nvSpPr>
        <p:spPr>
          <a:xfrm>
            <a:off x="5943600" y="156362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0" name="Shared page"/>
          <p:cNvSpPr/>
          <p:nvPr/>
        </p:nvSpPr>
        <p:spPr>
          <a:xfrm>
            <a:off x="6638544" y="156362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1" name="Shared page"/>
          <p:cNvSpPr/>
          <p:nvPr/>
        </p:nvSpPr>
        <p:spPr>
          <a:xfrm>
            <a:off x="7333488" y="156362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2" name="Shared page"/>
          <p:cNvSpPr/>
          <p:nvPr/>
        </p:nvSpPr>
        <p:spPr>
          <a:xfrm>
            <a:off x="8028432" y="156362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3" name="Shared page"/>
          <p:cNvSpPr/>
          <p:nvPr/>
        </p:nvSpPr>
        <p:spPr>
          <a:xfrm>
            <a:off x="5943600" y="225856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4" name="Copied page"/>
          <p:cNvSpPr/>
          <p:nvPr/>
        </p:nvSpPr>
        <p:spPr>
          <a:xfrm>
            <a:off x="6638544" y="225856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2"/>
          </a:solidFill>
          <a:ln/>
        </p:spPr>
      </p:sp>
      <p:sp>
        <p:nvSpPr>
          <p:cNvPr id="15" name="Shared page"/>
          <p:cNvSpPr/>
          <p:nvPr/>
        </p:nvSpPr>
        <p:spPr>
          <a:xfrm>
            <a:off x="7333488" y="225856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6" name="Shared page"/>
          <p:cNvSpPr/>
          <p:nvPr/>
        </p:nvSpPr>
        <p:spPr>
          <a:xfrm>
            <a:off x="8028432" y="225856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7" name="Shared page"/>
          <p:cNvSpPr/>
          <p:nvPr/>
        </p:nvSpPr>
        <p:spPr>
          <a:xfrm>
            <a:off x="5943600" y="295351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8" name="Shared page"/>
          <p:cNvSpPr/>
          <p:nvPr/>
        </p:nvSpPr>
        <p:spPr>
          <a:xfrm>
            <a:off x="6638544" y="295351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9" name="Shared page"/>
          <p:cNvSpPr/>
          <p:nvPr/>
        </p:nvSpPr>
        <p:spPr>
          <a:xfrm>
            <a:off x="7333488" y="295351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20" name="Shared page"/>
          <p:cNvSpPr/>
          <p:nvPr/>
        </p:nvSpPr>
        <p:spPr>
          <a:xfrm>
            <a:off x="8028432" y="295351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Shared pages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Copied page</a:t>
            </a:r>
            <a:endParaRPr lang="en-US" sz="1100" dirty="0"/>
          </a:p>
        </p:txBody>
      </p:sp>
      <p:sp>
        <p:nvSpPr>
          <p:cNvPr id="23" name="Team chip"/>
          <p:cNvSpPr/>
          <p:nvPr/>
        </p:nvSpPr>
        <p:spPr>
          <a:xfrm>
            <a:off x="457200" y="4023360"/>
            <a:ext cx="190195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4087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M. Mohana Asmitha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361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2520030486</a:t>
            </a:r>
            <a:endParaRPr lang="en-US" sz="1100" dirty="0"/>
          </a:p>
        </p:txBody>
      </p:sp>
      <p:sp>
        <p:nvSpPr>
          <p:cNvPr id="26" name="Team chip"/>
          <p:cNvSpPr/>
          <p:nvPr/>
        </p:nvSpPr>
        <p:spPr>
          <a:xfrm>
            <a:off x="2468880" y="4023360"/>
            <a:ext cx="190195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06040" y="4087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G. Laasya Chowdary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06040" y="4361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2520030118</a:t>
            </a:r>
            <a:endParaRPr lang="en-US" sz="1100" dirty="0"/>
          </a:p>
        </p:txBody>
      </p:sp>
      <p:sp>
        <p:nvSpPr>
          <p:cNvPr id="29" name="Team chip"/>
          <p:cNvSpPr/>
          <p:nvPr/>
        </p:nvSpPr>
        <p:spPr>
          <a:xfrm>
            <a:off x="4480560" y="4023360"/>
            <a:ext cx="190195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4087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Chava Nohitha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361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2520030130</a:t>
            </a:r>
            <a:endParaRPr lang="en-US" sz="1100" dirty="0"/>
          </a:p>
        </p:txBody>
      </p:sp>
      <p:sp>
        <p:nvSpPr>
          <p:cNvPr id="32" name="Team chip"/>
          <p:cNvSpPr/>
          <p:nvPr/>
        </p:nvSpPr>
        <p:spPr>
          <a:xfrm>
            <a:off x="6492240" y="4023360"/>
            <a:ext cx="1901952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4087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K. Hema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43616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Faculty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Why copy everything at fork()?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41732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7940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cost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naive fork() duplicates every page of the parent. A process using 1 GB of memory would need 1 GB more, just to start a child.</a:t>
            </a:r>
            <a:endParaRPr lang="en-US" sz="1400" dirty="0"/>
          </a:p>
        </p:txBody>
      </p:sp>
      <p:sp>
        <p:nvSpPr>
          <p:cNvPr id="9" name="Problem card"/>
          <p:cNvSpPr/>
          <p:nvPr/>
        </p:nvSpPr>
        <p:spPr>
          <a:xfrm>
            <a:off x="3291840" y="141732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17940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waste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Most children either read the data or call exec() straight away. Pages copied for them are never changed, then thrown away.</a:t>
            </a:r>
            <a:endParaRPr lang="en-US" sz="1400" dirty="0"/>
          </a:p>
        </p:txBody>
      </p:sp>
      <p:sp>
        <p:nvSpPr>
          <p:cNvPr id="14" name="Problem card"/>
          <p:cNvSpPr/>
          <p:nvPr/>
        </p:nvSpPr>
        <p:spPr>
          <a:xfrm>
            <a:off x="6126480" y="141732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55080" y="16459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3" y="17940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Our answer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the pages first. Create a private copy of a page only at the moment a process writes to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CORE CONCEPT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fork() and CoW mean</a:t>
            </a:r>
            <a:endParaRPr lang="en-US" sz="3200" dirty="0"/>
          </a:p>
        </p:txBody>
      </p:sp>
      <p:sp>
        <p:nvSpPr>
          <p:cNvPr id="4" name="Concept card"/>
          <p:cNvSpPr/>
          <p:nvPr/>
        </p:nvSpPr>
        <p:spPr>
          <a:xfrm>
            <a:off x="457200" y="137160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997" y="17606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fork()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Creates a child process from a parent process. The child gets the same memory layout and resources, so both processes see identical data at the start.</a:t>
            </a:r>
            <a:endParaRPr lang="en-US" sz="1400" dirty="0"/>
          </a:p>
        </p:txBody>
      </p:sp>
      <p:sp>
        <p:nvSpPr>
          <p:cNvPr id="9" name="Concept card"/>
          <p:cNvSpPr/>
          <p:nvPr/>
        </p:nvSpPr>
        <p:spPr>
          <a:xfrm>
            <a:off x="4663440" y="137160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937760" y="16002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237" y="176067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Copy-on-Write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3317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Parent and child use the same physical pages. A page is copied only when one of them writes to it. Until then, nothing changes and nothing is duplicated.</a:t>
            </a:r>
            <a:endParaRPr lang="en-US" sz="1400" dirty="0"/>
          </a:p>
        </p:txBody>
      </p:sp>
      <p:sp>
        <p:nvSpPr>
          <p:cNvPr id="14" name="Rule banner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Rule of thumb:  no write  =  no copy.   All of this happens in virtual memory.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demonstrator must show</a:t>
            </a:r>
            <a:endParaRPr lang="en-US" sz="3200" dirty="0"/>
          </a:p>
        </p:txBody>
      </p:sp>
      <p:sp>
        <p:nvSpPr>
          <p:cNvPr id="4" name="Objective card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7483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Show the sharing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Prove that parent and child map the same physical pages right after fork().</a:t>
            </a:r>
            <a:endParaRPr lang="en-US" sz="1400" dirty="0"/>
          </a:p>
        </p:txBody>
      </p:sp>
      <p:sp>
        <p:nvSpPr>
          <p:cNvPr id="9" name="Objective card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73" y="174833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Catch the first write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Make one process modify a single page and observe what happens.</a:t>
            </a:r>
            <a:endParaRPr lang="en-US" sz="1400" dirty="0"/>
          </a:p>
        </p:txBody>
      </p:sp>
      <p:sp>
        <p:nvSpPr>
          <p:cNvPr id="14" name="Objective card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33942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Show the page copy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Reveal that only the written page gets a new private copy.</a:t>
            </a:r>
            <a:endParaRPr lang="en-US" sz="1400" dirty="0"/>
          </a:p>
        </p:txBody>
      </p:sp>
      <p:sp>
        <p:nvSpPr>
          <p:cNvPr id="19" name="Objective card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173" y="339425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Measure the saving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Compare memory used with copy-all against copy-on-write.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Four steps from fork to private copy</a:t>
            </a:r>
            <a:endParaRPr lang="en-US" sz="3200" dirty="0"/>
          </a:p>
        </p:txBody>
      </p:sp>
      <p:sp>
        <p:nvSpPr>
          <p:cNvPr id="4" name="Step card"/>
          <p:cNvSpPr/>
          <p:nvPr/>
        </p:nvSpPr>
        <p:spPr>
          <a:xfrm>
            <a:off x="457200" y="1463040"/>
            <a:ext cx="182880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5" name="Step number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fork()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kernel creates a child process. No page data is copied.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2322576" y="26974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tep card"/>
          <p:cNvSpPr/>
          <p:nvPr/>
        </p:nvSpPr>
        <p:spPr>
          <a:xfrm>
            <a:off x="2587752" y="1463040"/>
            <a:ext cx="182880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1" name="Step number"/>
          <p:cNvSpPr/>
          <p:nvPr/>
        </p:nvSpPr>
        <p:spPr>
          <a:xfrm>
            <a:off x="2816352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1635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16352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Share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Both page tables point to the same frames, marked read-only.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4453128" y="26974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Step card"/>
          <p:cNvSpPr/>
          <p:nvPr/>
        </p:nvSpPr>
        <p:spPr>
          <a:xfrm>
            <a:off x="4718304" y="1463040"/>
            <a:ext cx="182880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946904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4690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946904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Write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946904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process modifies page 2. The CPU raises a page fault.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6583680" y="26974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Step card"/>
          <p:cNvSpPr/>
          <p:nvPr/>
        </p:nvSpPr>
        <p:spPr>
          <a:xfrm>
            <a:off x="6848856" y="1463040"/>
            <a:ext cx="1828800" cy="27432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</p:sp>
      <p:sp>
        <p:nvSpPr>
          <p:cNvPr id="23" name="Step number"/>
          <p:cNvSpPr/>
          <p:nvPr/>
        </p:nvSpPr>
        <p:spPr>
          <a:xfrm>
            <a:off x="7077456" y="1691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774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Copy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077456" y="28803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kernel copies page 2 and gives the writer its own frame.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VISUAL WALKTHROUGH  ·  STEP 1 OF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Right after fork(): everything is shared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Parent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virtual pages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Physical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frames (RAM)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Child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virtual pages</a:t>
            </a:r>
            <a:endParaRPr lang="en-US" sz="1400" dirty="0"/>
          </a:p>
        </p:txBody>
      </p:sp>
      <p:sp>
        <p:nvSpPr>
          <p:cNvPr id="7" name="Parent link"/>
          <p:cNvSpPr/>
          <p:nvPr/>
        </p:nvSpPr>
        <p:spPr>
          <a:xfrm>
            <a:off x="230886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Child link"/>
          <p:cNvSpPr/>
          <p:nvPr/>
        </p:nvSpPr>
        <p:spPr>
          <a:xfrm>
            <a:off x="230886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Parent link"/>
          <p:cNvSpPr/>
          <p:nvPr/>
        </p:nvSpPr>
        <p:spPr>
          <a:xfrm>
            <a:off x="377190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Child link"/>
          <p:cNvSpPr/>
          <p:nvPr/>
        </p:nvSpPr>
        <p:spPr>
          <a:xfrm>
            <a:off x="377190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Parent link"/>
          <p:cNvSpPr/>
          <p:nvPr/>
        </p:nvSpPr>
        <p:spPr>
          <a:xfrm>
            <a:off x="523494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Child link"/>
          <p:cNvSpPr/>
          <p:nvPr/>
        </p:nvSpPr>
        <p:spPr>
          <a:xfrm>
            <a:off x="523494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Parent link"/>
          <p:cNvSpPr/>
          <p:nvPr/>
        </p:nvSpPr>
        <p:spPr>
          <a:xfrm>
            <a:off x="669798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Child link"/>
          <p:cNvSpPr/>
          <p:nvPr/>
        </p:nvSpPr>
        <p:spPr>
          <a:xfrm>
            <a:off x="669798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Parent page"/>
          <p:cNvSpPr/>
          <p:nvPr/>
        </p:nvSpPr>
        <p:spPr>
          <a:xfrm>
            <a:off x="178308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8308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0</a:t>
            </a:r>
            <a:endParaRPr lang="en-US" sz="1400" dirty="0"/>
          </a:p>
        </p:txBody>
      </p:sp>
      <p:sp>
        <p:nvSpPr>
          <p:cNvPr id="17" name="Frame"/>
          <p:cNvSpPr/>
          <p:nvPr/>
        </p:nvSpPr>
        <p:spPr>
          <a:xfrm>
            <a:off x="178308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8308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19" name="Child page"/>
          <p:cNvSpPr/>
          <p:nvPr/>
        </p:nvSpPr>
        <p:spPr>
          <a:xfrm>
            <a:off x="178308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8308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0</a:t>
            </a:r>
            <a:endParaRPr lang="en-US" sz="1400" dirty="0"/>
          </a:p>
        </p:txBody>
      </p:sp>
      <p:sp>
        <p:nvSpPr>
          <p:cNvPr id="21" name="Parent page"/>
          <p:cNvSpPr/>
          <p:nvPr/>
        </p:nvSpPr>
        <p:spPr>
          <a:xfrm>
            <a:off x="324612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1</a:t>
            </a:r>
            <a:endParaRPr lang="en-US" sz="1400" dirty="0"/>
          </a:p>
        </p:txBody>
      </p:sp>
      <p:sp>
        <p:nvSpPr>
          <p:cNvPr id="23" name="Frame"/>
          <p:cNvSpPr/>
          <p:nvPr/>
        </p:nvSpPr>
        <p:spPr>
          <a:xfrm>
            <a:off x="324612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25" name="Child page"/>
          <p:cNvSpPr/>
          <p:nvPr/>
        </p:nvSpPr>
        <p:spPr>
          <a:xfrm>
            <a:off x="324612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1</a:t>
            </a:r>
            <a:endParaRPr lang="en-US" sz="1400" dirty="0"/>
          </a:p>
        </p:txBody>
      </p:sp>
      <p:sp>
        <p:nvSpPr>
          <p:cNvPr id="27" name="Parent page"/>
          <p:cNvSpPr/>
          <p:nvPr/>
        </p:nvSpPr>
        <p:spPr>
          <a:xfrm>
            <a:off x="470916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2</a:t>
            </a:r>
            <a:endParaRPr lang="en-US" sz="1400" dirty="0"/>
          </a:p>
        </p:txBody>
      </p:sp>
      <p:sp>
        <p:nvSpPr>
          <p:cNvPr id="29" name="Frame"/>
          <p:cNvSpPr/>
          <p:nvPr/>
        </p:nvSpPr>
        <p:spPr>
          <a:xfrm>
            <a:off x="470916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0916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31" name="Child page"/>
          <p:cNvSpPr/>
          <p:nvPr/>
        </p:nvSpPr>
        <p:spPr>
          <a:xfrm>
            <a:off x="470916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2</a:t>
            </a:r>
            <a:endParaRPr lang="en-US" sz="1400" dirty="0"/>
          </a:p>
        </p:txBody>
      </p:sp>
      <p:sp>
        <p:nvSpPr>
          <p:cNvPr id="33" name="Parent page"/>
          <p:cNvSpPr/>
          <p:nvPr/>
        </p:nvSpPr>
        <p:spPr>
          <a:xfrm>
            <a:off x="617220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3</a:t>
            </a:r>
            <a:endParaRPr lang="en-US" sz="1400" dirty="0"/>
          </a:p>
        </p:txBody>
      </p:sp>
      <p:sp>
        <p:nvSpPr>
          <p:cNvPr id="35" name="Frame"/>
          <p:cNvSpPr/>
          <p:nvPr/>
        </p:nvSpPr>
        <p:spPr>
          <a:xfrm>
            <a:off x="617220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7220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3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37" name="Child page"/>
          <p:cNvSpPr/>
          <p:nvPr/>
        </p:nvSpPr>
        <p:spPr>
          <a:xfrm>
            <a:off x="617220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3</a:t>
            </a:r>
            <a:endParaRPr lang="en-US" sz="1400" dirty="0"/>
          </a:p>
        </p:txBody>
      </p:sp>
      <p:sp>
        <p:nvSpPr>
          <p:cNvPr id="39" name="New frame"/>
          <p:cNvSpPr/>
          <p:nvPr/>
        </p:nvSpPr>
        <p:spPr>
          <a:xfrm>
            <a:off x="763524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763524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free</a:t>
            </a:r>
            <a:endParaRPr lang="en-US" sz="1300" dirty="0"/>
          </a:p>
        </p:txBody>
      </p:sp>
      <p:sp>
        <p:nvSpPr>
          <p:cNvPr id="41" name="Caption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Eight virtual pages, only four physical frames. All frames are read-only, so nothing has been copied.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VISUAL WALKTHROUGH  ·  STEP 2 OF 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After a write: only page 2 is copied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Parent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virtual pages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Physical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frames (RAM)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Child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virtual pages</a:t>
            </a:r>
            <a:endParaRPr lang="en-US" sz="1400" dirty="0"/>
          </a:p>
        </p:txBody>
      </p:sp>
      <p:sp>
        <p:nvSpPr>
          <p:cNvPr id="7" name="Parent link"/>
          <p:cNvSpPr/>
          <p:nvPr/>
        </p:nvSpPr>
        <p:spPr>
          <a:xfrm>
            <a:off x="230886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Child link"/>
          <p:cNvSpPr/>
          <p:nvPr/>
        </p:nvSpPr>
        <p:spPr>
          <a:xfrm>
            <a:off x="230886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Parent link"/>
          <p:cNvSpPr/>
          <p:nvPr/>
        </p:nvSpPr>
        <p:spPr>
          <a:xfrm>
            <a:off x="377190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Child link"/>
          <p:cNvSpPr/>
          <p:nvPr/>
        </p:nvSpPr>
        <p:spPr>
          <a:xfrm>
            <a:off x="377190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Parent link"/>
          <p:cNvSpPr/>
          <p:nvPr/>
        </p:nvSpPr>
        <p:spPr>
          <a:xfrm>
            <a:off x="523494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Parent link"/>
          <p:cNvSpPr/>
          <p:nvPr/>
        </p:nvSpPr>
        <p:spPr>
          <a:xfrm>
            <a:off x="6697980" y="182880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Child link"/>
          <p:cNvSpPr/>
          <p:nvPr/>
        </p:nvSpPr>
        <p:spPr>
          <a:xfrm>
            <a:off x="6697980" y="3063240"/>
            <a:ext cx="0" cy="5486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Child new link"/>
          <p:cNvSpPr/>
          <p:nvPr/>
        </p:nvSpPr>
        <p:spPr>
          <a:xfrm flipV="1">
            <a:off x="5234940" y="3063240"/>
            <a:ext cx="2926080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Parent page"/>
          <p:cNvSpPr/>
          <p:nvPr/>
        </p:nvSpPr>
        <p:spPr>
          <a:xfrm>
            <a:off x="178308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8308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0</a:t>
            </a:r>
            <a:endParaRPr lang="en-US" sz="1400" dirty="0"/>
          </a:p>
        </p:txBody>
      </p:sp>
      <p:sp>
        <p:nvSpPr>
          <p:cNvPr id="17" name="Frame"/>
          <p:cNvSpPr/>
          <p:nvPr/>
        </p:nvSpPr>
        <p:spPr>
          <a:xfrm>
            <a:off x="178308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8308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19" name="Child page"/>
          <p:cNvSpPr/>
          <p:nvPr/>
        </p:nvSpPr>
        <p:spPr>
          <a:xfrm>
            <a:off x="178308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8308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0</a:t>
            </a:r>
            <a:endParaRPr lang="en-US" sz="1400" dirty="0"/>
          </a:p>
        </p:txBody>
      </p:sp>
      <p:sp>
        <p:nvSpPr>
          <p:cNvPr id="21" name="Parent page"/>
          <p:cNvSpPr/>
          <p:nvPr/>
        </p:nvSpPr>
        <p:spPr>
          <a:xfrm>
            <a:off x="324612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1</a:t>
            </a:r>
            <a:endParaRPr lang="en-US" sz="1400" dirty="0"/>
          </a:p>
        </p:txBody>
      </p:sp>
      <p:sp>
        <p:nvSpPr>
          <p:cNvPr id="23" name="Frame"/>
          <p:cNvSpPr/>
          <p:nvPr/>
        </p:nvSpPr>
        <p:spPr>
          <a:xfrm>
            <a:off x="324612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25" name="Child page"/>
          <p:cNvSpPr/>
          <p:nvPr/>
        </p:nvSpPr>
        <p:spPr>
          <a:xfrm>
            <a:off x="324612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1</a:t>
            </a:r>
            <a:endParaRPr lang="en-US" sz="1400" dirty="0"/>
          </a:p>
        </p:txBody>
      </p:sp>
      <p:sp>
        <p:nvSpPr>
          <p:cNvPr id="27" name="Parent page"/>
          <p:cNvSpPr/>
          <p:nvPr/>
        </p:nvSpPr>
        <p:spPr>
          <a:xfrm>
            <a:off x="470916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2</a:t>
            </a:r>
            <a:endParaRPr lang="en-US" sz="1400" dirty="0"/>
          </a:p>
        </p:txBody>
      </p:sp>
      <p:sp>
        <p:nvSpPr>
          <p:cNvPr id="29" name="Frame"/>
          <p:cNvSpPr/>
          <p:nvPr/>
        </p:nvSpPr>
        <p:spPr>
          <a:xfrm>
            <a:off x="470916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0916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Frame 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now parent only</a:t>
            </a:r>
            <a:endParaRPr lang="en-US" sz="1300" dirty="0"/>
          </a:p>
        </p:txBody>
      </p:sp>
      <p:sp>
        <p:nvSpPr>
          <p:cNvPr id="31" name="Child page"/>
          <p:cNvSpPr/>
          <p:nvPr/>
        </p:nvSpPr>
        <p:spPr>
          <a:xfrm>
            <a:off x="470916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Page 2</a:t>
            </a:r>
            <a:endParaRPr lang="en-US" sz="1400" dirty="0"/>
          </a:p>
        </p:txBody>
      </p:sp>
      <p:sp>
        <p:nvSpPr>
          <p:cNvPr id="33" name="Parent page"/>
          <p:cNvSpPr/>
          <p:nvPr/>
        </p:nvSpPr>
        <p:spPr>
          <a:xfrm>
            <a:off x="6172200" y="1325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3</a:t>
            </a:r>
            <a:endParaRPr lang="en-US" sz="1400" dirty="0"/>
          </a:p>
        </p:txBody>
      </p:sp>
      <p:sp>
        <p:nvSpPr>
          <p:cNvPr id="35" name="Frame"/>
          <p:cNvSpPr/>
          <p:nvPr/>
        </p:nvSpPr>
        <p:spPr>
          <a:xfrm>
            <a:off x="617220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1">
              <a:alpha val="80000"/>
            </a:scheme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7220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3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shared</a:t>
            </a:r>
            <a:endParaRPr lang="en-US" sz="1300" dirty="0"/>
          </a:p>
        </p:txBody>
      </p:sp>
      <p:sp>
        <p:nvSpPr>
          <p:cNvPr id="37" name="Child page"/>
          <p:cNvSpPr/>
          <p:nvPr/>
        </p:nvSpPr>
        <p:spPr>
          <a:xfrm>
            <a:off x="6172200" y="3611880"/>
            <a:ext cx="105156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3611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Page 3</a:t>
            </a:r>
            <a:endParaRPr lang="en-US" sz="1400" dirty="0"/>
          </a:p>
        </p:txBody>
      </p:sp>
      <p:sp>
        <p:nvSpPr>
          <p:cNvPr id="39" name="New frame"/>
          <p:cNvSpPr/>
          <p:nvPr/>
        </p:nvSpPr>
        <p:spPr>
          <a:xfrm>
            <a:off x="7635240" y="2468880"/>
            <a:ext cx="1051560" cy="59436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35240" y="24688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 4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new copy</a:t>
            </a:r>
            <a:endParaRPr lang="en-US" sz="1300" dirty="0"/>
          </a:p>
        </p:txBody>
      </p:sp>
      <p:sp>
        <p:nvSpPr>
          <p:cNvPr id="41" name="Caption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child wrote to page 2, so it now has its own frame. Pages 0, 1 and 3 are still shared.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kernel does on a write fault</a:t>
            </a:r>
            <a:endParaRPr lang="en-US" sz="3200" dirty="0"/>
          </a:p>
        </p:txBody>
      </p:sp>
      <p:sp>
        <p:nvSpPr>
          <p:cNvPr id="4" name="Step dot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Mark read-only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At fork(), shared page-table entries are made read-only in both processes.</a:t>
            </a:r>
            <a:endParaRPr lang="en-US" sz="1400" dirty="0"/>
          </a:p>
        </p:txBody>
      </p:sp>
      <p:sp>
        <p:nvSpPr>
          <p:cNvPr id="7" name="Step dot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Trap the write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store to such a page makes the CPU raise a page fault.</a:t>
            </a:r>
            <a:endParaRPr lang="en-US" sz="1400" dirty="0"/>
          </a:p>
        </p:txBody>
      </p:sp>
      <p:sp>
        <p:nvSpPr>
          <p:cNvPr id="10" name="Step dot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 the sharers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kernel finds the page is a CoW page with more than one user.</a:t>
            </a:r>
            <a:endParaRPr lang="en-US" sz="1400" dirty="0"/>
          </a:p>
        </p:txBody>
      </p:sp>
      <p:sp>
        <p:nvSpPr>
          <p:cNvPr id="13" name="Step dot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Copy and remap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It copies the page to a new frame and maps it writable for the writer.</a:t>
            </a:r>
            <a:endParaRPr lang="en-US" sz="1400" dirty="0"/>
          </a:p>
        </p:txBody>
      </p:sp>
      <p:sp>
        <p:nvSpPr>
          <p:cNvPr id="16" name="Step dot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Retry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faulting instruction runs again and now succeeds.</a:t>
            </a:r>
            <a:endParaRPr lang="en-US" sz="1400" dirty="0"/>
          </a:p>
        </p:txBody>
      </p:sp>
      <p:sp>
        <p:nvSpPr>
          <p:cNvPr id="19" name="Refcount card"/>
          <p:cNvSpPr/>
          <p:nvPr/>
        </p:nvSpPr>
        <p:spPr>
          <a:xfrm>
            <a:off x="6263640" y="1325880"/>
            <a:ext cx="2423160" cy="3108960"/>
          </a:xfrm>
          <a:prstGeom prst="roundRect">
            <a:avLst>
              <a:gd name="adj" fmla="val 3019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SHARERS OF FRAME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 → 1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kernel keeps a reference count per frame. After the copy, each process has a frame of its own. If the count is already 1, the page is simply made writable with no copy.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the demonstrator is built</a:t>
            </a:r>
            <a:endParaRPr lang="en-US" sz="3200" dirty="0"/>
          </a:p>
        </p:txBody>
      </p:sp>
      <p:sp>
        <p:nvSpPr>
          <p:cNvPr id="4" name="Design box"/>
          <p:cNvSpPr/>
          <p:nvPr/>
        </p:nvSpPr>
        <p:spPr>
          <a:xfrm>
            <a:off x="457200" y="137160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Parent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Allocates a 4-page buffer with mmap and fills it with data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926080" y="1965960"/>
            <a:ext cx="36576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Design box"/>
          <p:cNvSpPr/>
          <p:nvPr/>
        </p:nvSpPr>
        <p:spPr>
          <a:xfrm>
            <a:off x="3383280" y="137160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fork()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9202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Creates the child with the same virtual addresses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5852160" y="1965960"/>
            <a:ext cx="36576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Design box"/>
          <p:cNvSpPr/>
          <p:nvPr/>
        </p:nvSpPr>
        <p:spPr>
          <a:xfrm>
            <a:off x="6309360" y="137160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Child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9202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Reads, then writes to page 2 and prints what it sees</a:t>
            </a:r>
            <a:endParaRPr lang="en-US" sz="1400" dirty="0"/>
          </a:p>
        </p:txBody>
      </p:sp>
      <p:sp>
        <p:nvSpPr>
          <p:cNvPr id="15" name="Observer panel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485693"/>
            <a:ext cx="252374" cy="25237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Observer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6576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After each stage, print the PID, the page address and its value. Read /proc/PID/smaps to see Shared_Dirty turn into Private_Dirty, and use getrusage() to count minor page faults.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Core of the demo in C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457200" y="1325880"/>
            <a:ext cx="539496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*buf = mmap(NULL, 4 * PAGE,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PROT_READ|PROT_WRITE,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MAP_PRIVATE|MAP_ANONYMOUS, -1, 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memset(buf, 'P', 4 * PAGE);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pid = fork();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(pid == 0) {          // child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show("child: before");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buf[2 * PAGE] = 'C'; // CoW 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show("child: after");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_exit(0);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waitpid(pid, NULL, 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show("parent: still 'P'");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TO NOTICE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Same address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39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Parent and child print the same virtual address for page 2.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 write, one copy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999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Only the line that sets 'C' triggers a page fault.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Isolation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959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parent still reads 'P' afterwards.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DEMONSTRATION SCENARIO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Five steps, one observation each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4663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observe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fills 4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private pages, all holding 'P'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addresses in child; pages show as shared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reads page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is 'P'. No copy, no page 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writes page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page fault; child gets a private copy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reads page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'P'. The two processes are isolated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EXPECTED RESULT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Memory use: copy-all vs copy-on-write</a:t>
            </a:r>
            <a:endParaRPr lang="en-US" sz="3200" dirty="0"/>
          </a:p>
        </p:txBody>
      </p:sp>
      <p:sp>
        <p:nvSpPr>
          <p:cNvPr id="4" name="Chart panel"/>
          <p:cNvSpPr/>
          <p:nvPr/>
        </p:nvSpPr>
        <p:spPr>
          <a:xfrm>
            <a:off x="457200" y="1325880"/>
            <a:ext cx="5394960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2120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 card"/>
          <p:cNvSpPr/>
          <p:nvPr/>
        </p:nvSpPr>
        <p:spPr>
          <a:xfrm>
            <a:off x="6126480" y="13258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0936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frames copied by fork()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612648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+1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frame after one write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6126480" y="35204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3520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3520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memory saved right after fork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Expected values from the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Where CoW is used, and its trade-offs</a:t>
            </a:r>
            <a:endParaRPr lang="en-US" sz="3200" dirty="0"/>
          </a:p>
        </p:txBody>
      </p:sp>
      <p:sp>
        <p:nvSpPr>
          <p:cNvPr id="4" name="Uses card"/>
          <p:cNvSpPr/>
          <p:nvPr/>
        </p:nvSpPr>
        <p:spPr>
          <a:xfrm>
            <a:off x="457200" y="13258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588" y="169026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Where it helps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Fast process creation: shell and server fork + exec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Background snapshots, as in database save jobs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Lower RAM use for many similar processes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Container and VM memory sharing</a:t>
            </a:r>
            <a:endParaRPr lang="en-US" sz="1400" dirty="0"/>
          </a:p>
        </p:txBody>
      </p:sp>
      <p:sp>
        <p:nvSpPr>
          <p:cNvPr id="9" name="Trade-offs card"/>
          <p:cNvSpPr/>
          <p:nvPr/>
        </p:nvSpPr>
        <p:spPr>
          <a:xfrm>
            <a:off x="4663440" y="13258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28" y="169026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Trade-offs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402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The first write to a page pays a page-fault cost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Even a 1-byte write copies a whole 4 KB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If many pages are written, memory use grows toward a full copy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Page tables are still copied at fork()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Share first. Copy only when needed.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fork() copies no page data, only page tables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write to a shared page triggers a copy of that page alone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The demo makes this visible with addresses, values and faults</a:t>
            </a:r>
            <a:endParaRPr lang="en-US" sz="1600" dirty="0"/>
          </a:p>
        </p:txBody>
      </p:sp>
      <p:sp>
        <p:nvSpPr>
          <p:cNvPr id="5" name="Motif page"/>
          <p:cNvSpPr/>
          <p:nvPr/>
        </p:nvSpPr>
        <p:spPr>
          <a:xfrm>
            <a:off x="5943600" y="91440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6" name="Motif page"/>
          <p:cNvSpPr/>
          <p:nvPr/>
        </p:nvSpPr>
        <p:spPr>
          <a:xfrm>
            <a:off x="6638544" y="91440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7" name="Motif page"/>
          <p:cNvSpPr/>
          <p:nvPr/>
        </p:nvSpPr>
        <p:spPr>
          <a:xfrm>
            <a:off x="7333488" y="91440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8" name="Motif page"/>
          <p:cNvSpPr/>
          <p:nvPr/>
        </p:nvSpPr>
        <p:spPr>
          <a:xfrm>
            <a:off x="8028432" y="914400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9" name="Motif page"/>
          <p:cNvSpPr/>
          <p:nvPr/>
        </p:nvSpPr>
        <p:spPr>
          <a:xfrm>
            <a:off x="5943600" y="160934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0" name="Motif page"/>
          <p:cNvSpPr/>
          <p:nvPr/>
        </p:nvSpPr>
        <p:spPr>
          <a:xfrm>
            <a:off x="6638544" y="160934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1" name="Motif page"/>
          <p:cNvSpPr/>
          <p:nvPr/>
        </p:nvSpPr>
        <p:spPr>
          <a:xfrm>
            <a:off x="7333488" y="160934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2" name="Motif page"/>
          <p:cNvSpPr/>
          <p:nvPr/>
        </p:nvSpPr>
        <p:spPr>
          <a:xfrm>
            <a:off x="8028432" y="1609344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3" name="Motif page"/>
          <p:cNvSpPr/>
          <p:nvPr/>
        </p:nvSpPr>
        <p:spPr>
          <a:xfrm>
            <a:off x="5943600" y="230428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4" name="Motif page"/>
          <p:cNvSpPr/>
          <p:nvPr/>
        </p:nvSpPr>
        <p:spPr>
          <a:xfrm>
            <a:off x="6638544" y="230428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2"/>
          </a:solidFill>
          <a:ln/>
        </p:spPr>
      </p:sp>
      <p:sp>
        <p:nvSpPr>
          <p:cNvPr id="15" name="Motif page"/>
          <p:cNvSpPr/>
          <p:nvPr/>
        </p:nvSpPr>
        <p:spPr>
          <a:xfrm>
            <a:off x="7333488" y="230428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6" name="Motif page"/>
          <p:cNvSpPr/>
          <p:nvPr/>
        </p:nvSpPr>
        <p:spPr>
          <a:xfrm>
            <a:off x="8028432" y="2304288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7" name="Motif page"/>
          <p:cNvSpPr/>
          <p:nvPr/>
        </p:nvSpPr>
        <p:spPr>
          <a:xfrm>
            <a:off x="5943600" y="299923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8" name="Motif page"/>
          <p:cNvSpPr/>
          <p:nvPr/>
        </p:nvSpPr>
        <p:spPr>
          <a:xfrm>
            <a:off x="6638544" y="299923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19" name="Motif page"/>
          <p:cNvSpPr/>
          <p:nvPr/>
        </p:nvSpPr>
        <p:spPr>
          <a:xfrm>
            <a:off x="7333488" y="299923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20" name="Motif page"/>
          <p:cNvSpPr/>
          <p:nvPr/>
        </p:nvSpPr>
        <p:spPr>
          <a:xfrm>
            <a:off x="8028432" y="2999232"/>
            <a:ext cx="566928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Thank you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M. Mohana Asmitha  ·  G. Laasya Chowdary  ·  Chava Nohitha  ·  Guide: K. Hema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W Memory Dark">
  <a:themeElements>
    <a:clrScheme name="CoW Memory Dark">
      <a:dk1>
        <a:srgbClr val="0B1F2A"/>
      </a:dk1>
      <a:lt1>
        <a:srgbClr val="FFFFFF"/>
      </a:lt1>
      <a:dk2>
        <a:srgbClr val="14323F"/>
      </a:dk2>
      <a:lt2>
        <a:srgbClr val="DCEFEA"/>
      </a:lt2>
      <a:accent1>
        <a:srgbClr val="2DD4BF"/>
      </a:accent1>
      <a:accent2>
        <a:srgbClr val="F59E0B"/>
      </a:accent2>
      <a:accent3>
        <a:srgbClr val="F87171"/>
      </a:accent3>
      <a:accent4>
        <a:srgbClr val="38BDF8"/>
      </a:accent4>
      <a:accent5>
        <a:srgbClr val="8DA3B1"/>
      </a:accent5>
      <a:accent6>
        <a:srgbClr val="A78BFA"/>
      </a:accent6>
      <a:hlink>
        <a:srgbClr val="38BDF8"/>
      </a:hlink>
      <a:folHlink>
        <a:srgbClr val="A78BFA"/>
      </a:folHlink>
    </a:clrScheme>
    <a:fontScheme name="CoW Memory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Copy-on-Write Memory Demonstrator</dc:title>
  <dc:subject>PptxGenJS Presentation</dc:subject>
  <dc:creator>PptxGenJS</dc:creator>
  <cp:lastModifiedBy>PptxGenJS</cp:lastModifiedBy>
  <cp:revision>1</cp:revision>
  <dcterms:created xsi:type="dcterms:W3CDTF">2026-10-17T05:21:27Z</dcterms:created>
  <dcterms:modified xsi:type="dcterms:W3CDTF">2026-10-17T05:21:27Z</dcterms:modified>
</cp:coreProperties>
</file>